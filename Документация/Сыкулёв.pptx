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6" r:id="rId2"/>
    <p:sldId id="265" r:id="rId3"/>
    <p:sldId id="266" r:id="rId4"/>
    <p:sldId id="257" r:id="rId5"/>
    <p:sldId id="258" r:id="rId6"/>
    <p:sldId id="267" r:id="rId7"/>
    <p:sldId id="261" r:id="rId8"/>
    <p:sldId id="262" r:id="rId9"/>
    <p:sldId id="268" r:id="rId10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6662" autoAdjust="0"/>
    <p:restoredTop sz="88000" autoAdjust="0"/>
  </p:normalViewPr>
  <p:slideViewPr>
    <p:cSldViewPr>
      <p:cViewPr>
        <p:scale>
          <a:sx n="66" d="100"/>
          <a:sy n="66" d="100"/>
        </p:scale>
        <p:origin x="2526" y="85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38263CE-E13A-49F7-AA40-C2BC4B27E234}" type="datetimeFigureOut">
              <a:rPr lang="ru-RU" smtClean="0"/>
              <a:t>27.04.2026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837FAC2-A3A1-47BC-A0B2-87ED8797A97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926893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Программа реализована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на языке </a:t>
            </a:r>
            <a:r>
              <a:rPr lang="ru-RU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Java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(версия 22) с использованием </a:t>
            </a:r>
            <a:r>
              <a:rPr lang="ru-RU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фреймворка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Spring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Boot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Для работы с базами данных выбрана СУБД </a:t>
            </a:r>
            <a:r>
              <a:rPr lang="ru-RU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PostgreSQL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Для веб-интерфейса использован </a:t>
            </a:r>
            <a:r>
              <a:rPr lang="ru-RU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шаблонизатор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Thymeleaf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 </a:t>
            </a:r>
            <a:r>
              <a:rPr lang="ru-RU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фреймворк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Bootstrap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ru-RU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Технологический стек: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ru-RU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Spring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MVC, </a:t>
            </a:r>
            <a:r>
              <a:rPr lang="ru-RU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Spring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Data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JPA, </a:t>
            </a:r>
            <a:r>
              <a:rPr lang="ru-RU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Spring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Security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сборка </a:t>
            </a:r>
            <a:r>
              <a:rPr lang="ru-RU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Maven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генерация PDF через </a:t>
            </a:r>
            <a:r>
              <a:rPr lang="ru-RU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OpenPDF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37FAC2-A3A1-47BC-A0B2-87ED8797A977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21950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137D05-7FB1-4359-BDE2-9C5DB88752B3}" type="datetimeFigureOut">
              <a:rPr lang="ru-RU" smtClean="0"/>
              <a:t>27.04.2026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219400-6AC1-4435-A150-399614DE0E85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583486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137D05-7FB1-4359-BDE2-9C5DB88752B3}" type="datetimeFigureOut">
              <a:rPr lang="ru-RU" smtClean="0"/>
              <a:t>27.04.2026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219400-6AC1-4435-A150-399614DE0E85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427458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137D05-7FB1-4359-BDE2-9C5DB88752B3}" type="datetimeFigureOut">
              <a:rPr lang="ru-RU" smtClean="0"/>
              <a:t>27.04.2026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219400-6AC1-4435-A150-399614DE0E85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848541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137D05-7FB1-4359-BDE2-9C5DB88752B3}" type="datetimeFigureOut">
              <a:rPr lang="ru-RU" smtClean="0"/>
              <a:t>27.04.2026</a:t>
            </a:fld>
            <a:endParaRPr lang="ru-RU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219400-6AC1-4435-A150-399614DE0E85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7672355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137D05-7FB1-4359-BDE2-9C5DB88752B3}" type="datetimeFigureOut">
              <a:rPr lang="ru-RU" smtClean="0"/>
              <a:t>27.04.2026</a:t>
            </a:fld>
            <a:endParaRPr lang="ru-RU" dirty="0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219400-6AC1-4435-A150-399614DE0E85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745308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137D05-7FB1-4359-BDE2-9C5DB88752B3}" type="datetimeFigureOut">
              <a:rPr lang="ru-RU" smtClean="0"/>
              <a:t>27.04.2026</a:t>
            </a:fld>
            <a:endParaRPr lang="ru-RU" dirty="0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219400-6AC1-4435-A150-399614DE0E85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544912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137D05-7FB1-4359-BDE2-9C5DB88752B3}" type="datetimeFigureOut">
              <a:rPr lang="ru-RU" smtClean="0"/>
              <a:t>27.04.2026</a:t>
            </a:fld>
            <a:endParaRPr lang="ru-RU" dirty="0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219400-6AC1-4435-A150-399614DE0E85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384471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137D05-7FB1-4359-BDE2-9C5DB88752B3}" type="datetimeFigureOut">
              <a:rPr lang="ru-RU" smtClean="0"/>
              <a:t>27.04.2026</a:t>
            </a:fld>
            <a:endParaRPr lang="ru-RU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219400-6AC1-4435-A150-399614DE0E85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688656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 dirty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137D05-7FB1-4359-BDE2-9C5DB88752B3}" type="datetimeFigureOut">
              <a:rPr lang="ru-RU" smtClean="0"/>
              <a:t>27.04.2026</a:t>
            </a:fld>
            <a:endParaRPr lang="ru-RU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219400-6AC1-4435-A150-399614DE0E85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913340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137D05-7FB1-4359-BDE2-9C5DB88752B3}" type="datetimeFigureOut">
              <a:rPr lang="ru-RU" smtClean="0"/>
              <a:t>27.04.2026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219400-6AC1-4435-A150-399614DE0E85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136765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137D05-7FB1-4359-BDE2-9C5DB88752B3}" type="datetimeFigureOut">
              <a:rPr lang="ru-RU" smtClean="0"/>
              <a:t>27.04.2026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219400-6AC1-4435-A150-399614DE0E85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860262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137D05-7FB1-4359-BDE2-9C5DB88752B3}" type="datetimeFigureOut">
              <a:rPr lang="ru-RU" smtClean="0"/>
              <a:t>27.04.2026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5219400-6AC1-4435-A150-399614DE0E85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9839763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6.emf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539552" y="1802095"/>
            <a:ext cx="8408232" cy="1470025"/>
          </a:xfrm>
        </p:spPr>
        <p:txBody>
          <a:bodyPr>
            <a:normAutofit fontScale="90000"/>
          </a:bodyPr>
          <a:lstStyle/>
          <a:p>
            <a:r>
              <a:rPr lang="ru-RU" sz="3600" b="1" u="sng" dirty="0"/>
              <a:t>Информационная система для складского учёта ТМЦ на основе 1С-подобной логики</a:t>
            </a:r>
            <a:endParaRPr lang="ru-RU" sz="3600" b="1" u="sng" dirty="0"/>
          </a:p>
        </p:txBody>
      </p:sp>
      <p:sp>
        <p:nvSpPr>
          <p:cNvPr id="6" name="Подзаголовок 4"/>
          <p:cNvSpPr>
            <a:spLocks noGrp="1"/>
          </p:cNvSpPr>
          <p:nvPr>
            <p:ph type="subTitle" idx="1"/>
          </p:nvPr>
        </p:nvSpPr>
        <p:spPr>
          <a:xfrm>
            <a:off x="4067944" y="4365104"/>
            <a:ext cx="4752528" cy="2016224"/>
          </a:xfrm>
        </p:spPr>
        <p:txBody>
          <a:bodyPr>
            <a:noAutofit/>
          </a:bodyPr>
          <a:lstStyle/>
          <a:p>
            <a:pPr algn="l"/>
            <a:r>
              <a:rPr lang="ru-RU" sz="2000" dirty="0" smtClean="0">
                <a:solidFill>
                  <a:schemeClr val="tx1"/>
                </a:solidFill>
                <a:cs typeface="Times New Roman" pitchFamily="18" charset="0"/>
              </a:rPr>
              <a:t>Выпускная квалификационная работа</a:t>
            </a:r>
            <a:endParaRPr lang="ru-RU" sz="2000" dirty="0">
              <a:solidFill>
                <a:schemeClr val="tx1"/>
              </a:solidFill>
              <a:cs typeface="Times New Roman" pitchFamily="18" charset="0"/>
            </a:endParaRPr>
          </a:p>
          <a:p>
            <a:pPr algn="l"/>
            <a:r>
              <a:rPr lang="ru-RU" sz="2000" dirty="0" smtClean="0">
                <a:solidFill>
                  <a:schemeClr val="tx1"/>
                </a:solidFill>
                <a:cs typeface="Times New Roman" pitchFamily="18" charset="0"/>
              </a:rPr>
              <a:t>студента </a:t>
            </a:r>
            <a:r>
              <a:rPr lang="ru-RU" sz="2000" dirty="0">
                <a:solidFill>
                  <a:schemeClr val="tx1"/>
                </a:solidFill>
                <a:cs typeface="Times New Roman" pitchFamily="18" charset="0"/>
              </a:rPr>
              <a:t>группы </a:t>
            </a:r>
            <a:r>
              <a:rPr lang="ru-RU" sz="2000" dirty="0" smtClean="0">
                <a:solidFill>
                  <a:schemeClr val="tx1"/>
                </a:solidFill>
                <a:cs typeface="Times New Roman" pitchFamily="18" charset="0"/>
              </a:rPr>
              <a:t>225</a:t>
            </a:r>
            <a:r>
              <a:rPr lang="en-US" sz="2000" dirty="0" smtClean="0">
                <a:solidFill>
                  <a:schemeClr val="tx1"/>
                </a:solidFill>
                <a:cs typeface="Times New Roman" pitchFamily="18" charset="0"/>
              </a:rPr>
              <a:t>:</a:t>
            </a:r>
            <a:endParaRPr lang="ru-RU" sz="2000" dirty="0">
              <a:solidFill>
                <a:schemeClr val="tx1"/>
              </a:solidFill>
              <a:cs typeface="Times New Roman" pitchFamily="18" charset="0"/>
            </a:endParaRPr>
          </a:p>
          <a:p>
            <a:pPr algn="l"/>
            <a:r>
              <a:rPr lang="ru-RU" sz="2000" b="1" dirty="0" err="1" smtClean="0">
                <a:solidFill>
                  <a:schemeClr val="tx1"/>
                </a:solidFill>
                <a:cs typeface="Times New Roman" pitchFamily="18" charset="0"/>
              </a:rPr>
              <a:t>Сыкулёва</a:t>
            </a:r>
            <a:r>
              <a:rPr lang="ru-RU" sz="2000" b="1" dirty="0" smtClean="0">
                <a:solidFill>
                  <a:schemeClr val="tx1"/>
                </a:solidFill>
                <a:cs typeface="Times New Roman" pitchFamily="18" charset="0"/>
              </a:rPr>
              <a:t> И.А.</a:t>
            </a:r>
            <a:endParaRPr lang="en-US" sz="2000" b="1" dirty="0" smtClean="0">
              <a:solidFill>
                <a:schemeClr val="tx1"/>
              </a:solidFill>
              <a:cs typeface="Times New Roman" pitchFamily="18" charset="0"/>
            </a:endParaRPr>
          </a:p>
          <a:p>
            <a:pPr algn="l"/>
            <a:r>
              <a:rPr lang="ru-RU" sz="2000" dirty="0" smtClean="0">
                <a:solidFill>
                  <a:schemeClr val="tx1"/>
                </a:solidFill>
                <a:cs typeface="Times New Roman" pitchFamily="18" charset="0"/>
              </a:rPr>
              <a:t>Руководитель</a:t>
            </a:r>
            <a:r>
              <a:rPr lang="ru-RU" sz="2000" dirty="0">
                <a:solidFill>
                  <a:schemeClr val="tx1"/>
                </a:solidFill>
                <a:cs typeface="Times New Roman" pitchFamily="18" charset="0"/>
              </a:rPr>
              <a:t>: </a:t>
            </a:r>
            <a:endParaRPr lang="en-US" sz="2000" dirty="0" smtClean="0">
              <a:solidFill>
                <a:schemeClr val="tx1"/>
              </a:solidFill>
              <a:cs typeface="Times New Roman" pitchFamily="18" charset="0"/>
            </a:endParaRPr>
          </a:p>
          <a:p>
            <a:pPr algn="l"/>
            <a:r>
              <a:rPr lang="ru-RU" sz="2000" dirty="0" smtClean="0">
                <a:solidFill>
                  <a:schemeClr val="tx1"/>
                </a:solidFill>
                <a:cs typeface="Times New Roman" pitchFamily="18" charset="0"/>
              </a:rPr>
              <a:t>Парфенов А.В.</a:t>
            </a:r>
            <a:endParaRPr lang="ru-RU" sz="2000" dirty="0">
              <a:solidFill>
                <a:schemeClr val="tx1"/>
              </a:solidFill>
              <a:cs typeface="Times New Roman" pitchFamily="18" charset="0"/>
            </a:endParaRP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64095" y="230781"/>
            <a:ext cx="1562930" cy="1562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97436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95288" y="980728"/>
            <a:ext cx="8445500" cy="3384376"/>
          </a:xfrm>
        </p:spPr>
        <p:txBody>
          <a:bodyPr vert="horz" lIns="91440" tIns="45720" rIns="91440" bIns="45720" rtlCol="0">
            <a:noAutofit/>
          </a:bodyPr>
          <a:lstStyle/>
          <a:p>
            <a:r>
              <a:rPr lang="ru-RU" sz="2800" b="1" dirty="0"/>
              <a:t>Программа предназначена для автоматизации складского учёта товарно-материальных ценностей предприятия.</a:t>
            </a:r>
            <a:r>
              <a:rPr lang="ru-RU" sz="2800" dirty="0"/>
              <a:t> Основная идея – реализация 1С-подобной логики: </a:t>
            </a:r>
            <a:endParaRPr lang="ru-RU" sz="2800" dirty="0" smtClean="0"/>
          </a:p>
          <a:p>
            <a:r>
              <a:rPr lang="ru-RU" sz="2800" b="1" dirty="0" smtClean="0"/>
              <a:t>документ </a:t>
            </a:r>
            <a:r>
              <a:rPr lang="ru-RU" sz="2800" b="1" dirty="0"/>
              <a:t>→ проводки → изменение остатков</a:t>
            </a:r>
            <a:r>
              <a:rPr lang="ru-RU" sz="2800" dirty="0"/>
              <a:t>. Система позволяет вести учёт товаров, контрагентов, создавать приходные и расходные документы, формировать отчёты и управлять пользователями.</a:t>
            </a:r>
          </a:p>
        </p:txBody>
      </p:sp>
      <p:sp>
        <p:nvSpPr>
          <p:cNvPr id="4" name="Line 2"/>
          <p:cNvSpPr>
            <a:spLocks noChangeShapeType="1"/>
          </p:cNvSpPr>
          <p:nvPr/>
        </p:nvSpPr>
        <p:spPr bwMode="auto">
          <a:xfrm>
            <a:off x="376238" y="795338"/>
            <a:ext cx="8464550" cy="0"/>
          </a:xfrm>
          <a:prstGeom prst="line">
            <a:avLst/>
          </a:prstGeom>
          <a:noFill/>
          <a:ln w="38100">
            <a:solidFill>
              <a:srgbClr val="000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ru-RU"/>
          </a:p>
        </p:txBody>
      </p:sp>
      <p:sp>
        <p:nvSpPr>
          <p:cNvPr id="5" name="Text Box 3"/>
          <p:cNvSpPr txBox="1">
            <a:spLocks noChangeArrowheads="1"/>
          </p:cNvSpPr>
          <p:nvPr/>
        </p:nvSpPr>
        <p:spPr bwMode="auto">
          <a:xfrm>
            <a:off x="395288" y="188913"/>
            <a:ext cx="8140700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/>
            <a:r>
              <a:rPr lang="ru-RU" sz="3200" dirty="0" smtClean="0"/>
              <a:t>НАЗНАЧЕНИЕ ПРОГРАММЫ</a:t>
            </a:r>
            <a:endParaRPr lang="ru-RU" sz="3200" dirty="0"/>
          </a:p>
        </p:txBody>
      </p:sp>
    </p:spTree>
    <p:extLst>
      <p:ext uri="{BB962C8B-B14F-4D97-AF65-F5344CB8AC3E}">
        <p14:creationId xmlns:p14="http://schemas.microsoft.com/office/powerpoint/2010/main" val="31928261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ine 2"/>
          <p:cNvSpPr>
            <a:spLocks noChangeShapeType="1"/>
          </p:cNvSpPr>
          <p:nvPr/>
        </p:nvSpPr>
        <p:spPr bwMode="auto">
          <a:xfrm>
            <a:off x="365819" y="795338"/>
            <a:ext cx="8464550" cy="0"/>
          </a:xfrm>
          <a:prstGeom prst="line">
            <a:avLst/>
          </a:prstGeom>
          <a:noFill/>
          <a:ln w="38100">
            <a:solidFill>
              <a:srgbClr val="000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ru-RU"/>
          </a:p>
        </p:txBody>
      </p:sp>
      <p:sp>
        <p:nvSpPr>
          <p:cNvPr id="5" name="Text Box 3"/>
          <p:cNvSpPr txBox="1">
            <a:spLocks noChangeArrowheads="1"/>
          </p:cNvSpPr>
          <p:nvPr/>
        </p:nvSpPr>
        <p:spPr bwMode="auto">
          <a:xfrm>
            <a:off x="384869" y="188913"/>
            <a:ext cx="8140700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/>
            <a:r>
              <a:rPr lang="ru-RU" sz="3200" dirty="0" smtClean="0"/>
              <a:t>РЕАЛИЗАЦИЯ ПРОГРАММЫ</a:t>
            </a:r>
            <a:endParaRPr lang="ru-RU" sz="3200" dirty="0"/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58343" y="724183"/>
            <a:ext cx="3960440" cy="134735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67768" y="1360755"/>
            <a:ext cx="35283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b="1" dirty="0" smtClean="0"/>
              <a:t>Операционная система</a:t>
            </a:r>
            <a:endParaRPr lang="ru-RU" sz="2400" b="1" dirty="0"/>
          </a:p>
        </p:txBody>
      </p:sp>
      <p:sp>
        <p:nvSpPr>
          <p:cNvPr id="13" name="TextBox 12"/>
          <p:cNvSpPr txBox="1"/>
          <p:nvPr/>
        </p:nvSpPr>
        <p:spPr>
          <a:xfrm>
            <a:off x="661423" y="2521072"/>
            <a:ext cx="46805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b="1" dirty="0" smtClean="0"/>
              <a:t>Язык программирования</a:t>
            </a:r>
            <a:endParaRPr lang="ru-RU" sz="2400" b="1" dirty="0"/>
          </a:p>
        </p:txBody>
      </p:sp>
      <p:sp>
        <p:nvSpPr>
          <p:cNvPr id="14" name="TextBox 13"/>
          <p:cNvSpPr txBox="1"/>
          <p:nvPr/>
        </p:nvSpPr>
        <p:spPr>
          <a:xfrm>
            <a:off x="539552" y="4133430"/>
            <a:ext cx="55262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b="1" dirty="0" smtClean="0"/>
              <a:t>Интегрированная среда разработки </a:t>
            </a:r>
            <a:endParaRPr lang="ru-RU" sz="2400" b="1" dirty="0"/>
          </a:p>
        </p:txBody>
      </p:sp>
      <p:sp>
        <p:nvSpPr>
          <p:cNvPr id="15" name="TextBox 14"/>
          <p:cNvSpPr txBox="1"/>
          <p:nvPr/>
        </p:nvSpPr>
        <p:spPr>
          <a:xfrm>
            <a:off x="827584" y="5744890"/>
            <a:ext cx="46805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b="1" dirty="0" smtClean="0"/>
              <a:t>Система управления баз данных</a:t>
            </a:r>
            <a:endParaRPr lang="ru-RU" sz="2400" b="1" dirty="0"/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27069" y="1564310"/>
            <a:ext cx="981543" cy="1800149"/>
          </a:xfrm>
          <a:prstGeom prst="rect">
            <a:avLst/>
          </a:prstGeom>
        </p:spPr>
      </p:pic>
      <p:pic>
        <p:nvPicPr>
          <p:cNvPr id="3" name="Рисунок 2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27069" y="3573016"/>
            <a:ext cx="1404529" cy="1404529"/>
          </a:xfrm>
          <a:prstGeom prst="rect">
            <a:avLst/>
          </a:prstGeom>
        </p:spPr>
      </p:pic>
      <p:pic>
        <p:nvPicPr>
          <p:cNvPr id="10" name="Рисунок 9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67131" y="5358781"/>
            <a:ext cx="2294384" cy="1147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52602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364341" y="1556792"/>
            <a:ext cx="8466028" cy="1152128"/>
          </a:xfrm>
        </p:spPr>
        <p:txBody>
          <a:bodyPr>
            <a:normAutofit fontScale="77500" lnSpcReduction="20000"/>
          </a:bodyPr>
          <a:lstStyle/>
          <a:p>
            <a:pPr marL="0" indent="0" algn="ctr">
              <a:buNone/>
            </a:pPr>
            <a:r>
              <a:rPr lang="ru-RU" dirty="0" smtClean="0"/>
              <a:t>разработать </a:t>
            </a:r>
            <a:r>
              <a:rPr lang="ru-RU" dirty="0"/>
              <a:t>информационную систему складского учёта, построенную по 1С-подобной логике с разграничением прав доступа и возможностью формирования отчётности.</a:t>
            </a:r>
          </a:p>
          <a:p>
            <a:pPr marL="0" indent="0" algn="ctr">
              <a:buNone/>
            </a:pPr>
            <a:endParaRPr lang="ru-RU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Line 2"/>
          <p:cNvSpPr>
            <a:spLocks noChangeShapeType="1"/>
          </p:cNvSpPr>
          <p:nvPr/>
        </p:nvSpPr>
        <p:spPr bwMode="auto">
          <a:xfrm>
            <a:off x="365819" y="795338"/>
            <a:ext cx="8464550" cy="0"/>
          </a:xfrm>
          <a:prstGeom prst="line">
            <a:avLst/>
          </a:prstGeom>
          <a:noFill/>
          <a:ln w="38100">
            <a:solidFill>
              <a:srgbClr val="000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ru-RU"/>
          </a:p>
        </p:txBody>
      </p:sp>
      <p:sp>
        <p:nvSpPr>
          <p:cNvPr id="7" name="Text Box 3"/>
          <p:cNvSpPr txBox="1">
            <a:spLocks noChangeArrowheads="1"/>
          </p:cNvSpPr>
          <p:nvPr/>
        </p:nvSpPr>
        <p:spPr bwMode="auto">
          <a:xfrm>
            <a:off x="384869" y="188913"/>
            <a:ext cx="8140700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/>
            <a:r>
              <a:rPr lang="ru-RU" sz="3200" dirty="0" smtClean="0"/>
              <a:t>ЦЕЛЬ</a:t>
            </a:r>
            <a:endParaRPr lang="ru-RU" sz="3200" dirty="0"/>
          </a:p>
        </p:txBody>
      </p:sp>
    </p:spTree>
    <p:extLst>
      <p:ext uri="{BB962C8B-B14F-4D97-AF65-F5344CB8AC3E}">
        <p14:creationId xmlns:p14="http://schemas.microsoft.com/office/powerpoint/2010/main" val="37169011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Объект 2"/>
          <p:cNvSpPr>
            <a:spLocks noGrp="1"/>
          </p:cNvSpPr>
          <p:nvPr>
            <p:ph idx="1"/>
          </p:nvPr>
        </p:nvSpPr>
        <p:spPr>
          <a:xfrm>
            <a:off x="365879" y="980728"/>
            <a:ext cx="8515479" cy="4525963"/>
          </a:xfrm>
        </p:spPr>
        <p:txBody>
          <a:bodyPr>
            <a:normAutofit fontScale="92500" lnSpcReduction="20000"/>
          </a:bodyPr>
          <a:lstStyle/>
          <a:p>
            <a:pPr algn="just">
              <a:buFont typeface="Wingdings" pitchFamily="2" charset="2"/>
              <a:buChar char="ü"/>
            </a:pPr>
            <a:r>
              <a:rPr lang="ru-RU" dirty="0">
                <a:latin typeface="Arial" pitchFamily="34" charset="0"/>
                <a:cs typeface="Arial" pitchFamily="34" charset="0"/>
              </a:rPr>
              <a:t>проектировать базу данных (7 таблиц: пользователи, товары, контрагенты, документы, движения, остатки, аудит)</a:t>
            </a:r>
          </a:p>
          <a:p>
            <a:pPr algn="just">
              <a:buFont typeface="Wingdings" pitchFamily="2" charset="2"/>
              <a:buChar char="ü"/>
            </a:pPr>
            <a:r>
              <a:rPr lang="ru-RU" dirty="0">
                <a:latin typeface="Arial" pitchFamily="34" charset="0"/>
                <a:cs typeface="Arial" pitchFamily="34" charset="0"/>
              </a:rPr>
              <a:t>•	Реализовать авторизацию с шифрованием паролей </a:t>
            </a:r>
            <a:r>
              <a:rPr lang="ru-RU" dirty="0" err="1">
                <a:latin typeface="Arial" pitchFamily="34" charset="0"/>
                <a:cs typeface="Arial" pitchFamily="34" charset="0"/>
              </a:rPr>
              <a:t>BCrypt</a:t>
            </a:r>
            <a:endParaRPr lang="ru-RU" dirty="0">
              <a:latin typeface="Arial" pitchFamily="34" charset="0"/>
              <a:cs typeface="Arial" pitchFamily="34" charset="0"/>
            </a:endParaRPr>
          </a:p>
          <a:p>
            <a:pPr algn="just">
              <a:buFont typeface="Wingdings" pitchFamily="2" charset="2"/>
              <a:buChar char="ü"/>
            </a:pPr>
            <a:r>
              <a:rPr lang="ru-RU" dirty="0">
                <a:latin typeface="Arial" pitchFamily="34" charset="0"/>
                <a:cs typeface="Arial" pitchFamily="34" charset="0"/>
              </a:rPr>
              <a:t>•	Реализовать CRUD-операции для товаров, контрагентов и пользователей</a:t>
            </a:r>
          </a:p>
          <a:p>
            <a:pPr algn="just">
              <a:buFont typeface="Wingdings" pitchFamily="2" charset="2"/>
              <a:buChar char="ü"/>
            </a:pPr>
            <a:r>
              <a:rPr lang="ru-RU" dirty="0">
                <a:latin typeface="Arial" pitchFamily="34" charset="0"/>
                <a:cs typeface="Arial" pitchFamily="34" charset="0"/>
              </a:rPr>
              <a:t>•	Реализовать создание, проведение и </a:t>
            </a:r>
            <a:r>
              <a:rPr lang="ru-RU" dirty="0" err="1">
                <a:latin typeface="Arial" pitchFamily="34" charset="0"/>
                <a:cs typeface="Arial" pitchFamily="34" charset="0"/>
              </a:rPr>
              <a:t>сторно</a:t>
            </a:r>
            <a:r>
              <a:rPr lang="ru-RU" dirty="0">
                <a:latin typeface="Arial" pitchFamily="34" charset="0"/>
                <a:cs typeface="Arial" pitchFamily="34" charset="0"/>
              </a:rPr>
              <a:t> приходных/расходных документов</a:t>
            </a:r>
          </a:p>
          <a:p>
            <a:pPr algn="just">
              <a:buFont typeface="Wingdings" pitchFamily="2" charset="2"/>
              <a:buChar char="ü"/>
            </a:pPr>
            <a:r>
              <a:rPr lang="ru-RU" dirty="0">
                <a:latin typeface="Arial" pitchFamily="34" charset="0"/>
                <a:cs typeface="Arial" pitchFamily="34" charset="0"/>
              </a:rPr>
              <a:t>•	Реализовать отчёты по остаткам и оборотам с экспортом в PDF</a:t>
            </a:r>
          </a:p>
        </p:txBody>
      </p:sp>
      <p:sp>
        <p:nvSpPr>
          <p:cNvPr id="5" name="Line 2"/>
          <p:cNvSpPr>
            <a:spLocks noChangeShapeType="1"/>
          </p:cNvSpPr>
          <p:nvPr/>
        </p:nvSpPr>
        <p:spPr bwMode="auto">
          <a:xfrm>
            <a:off x="365819" y="795338"/>
            <a:ext cx="8464550" cy="0"/>
          </a:xfrm>
          <a:prstGeom prst="line">
            <a:avLst/>
          </a:prstGeom>
          <a:noFill/>
          <a:ln w="38100">
            <a:solidFill>
              <a:srgbClr val="000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ru-RU"/>
          </a:p>
        </p:txBody>
      </p:sp>
      <p:sp>
        <p:nvSpPr>
          <p:cNvPr id="6" name="Text Box 3"/>
          <p:cNvSpPr txBox="1">
            <a:spLocks noChangeArrowheads="1"/>
          </p:cNvSpPr>
          <p:nvPr/>
        </p:nvSpPr>
        <p:spPr bwMode="auto">
          <a:xfrm>
            <a:off x="384869" y="188913"/>
            <a:ext cx="8140700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/>
            <a:r>
              <a:rPr lang="ru-RU" sz="3200" dirty="0" smtClean="0"/>
              <a:t>ЗАДАЧИ ПРОЕКТА</a:t>
            </a:r>
            <a:endParaRPr lang="ru-RU" sz="3200" dirty="0"/>
          </a:p>
        </p:txBody>
      </p:sp>
    </p:spTree>
    <p:extLst>
      <p:ext uri="{BB962C8B-B14F-4D97-AF65-F5344CB8AC3E}">
        <p14:creationId xmlns:p14="http://schemas.microsoft.com/office/powerpoint/2010/main" val="12887613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Line 2"/>
          <p:cNvSpPr>
            <a:spLocks noChangeShapeType="1"/>
          </p:cNvSpPr>
          <p:nvPr/>
        </p:nvSpPr>
        <p:spPr bwMode="auto">
          <a:xfrm>
            <a:off x="365819" y="795338"/>
            <a:ext cx="8464550" cy="0"/>
          </a:xfrm>
          <a:prstGeom prst="line">
            <a:avLst/>
          </a:prstGeom>
          <a:noFill/>
          <a:ln w="38100">
            <a:solidFill>
              <a:srgbClr val="000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ru-RU"/>
          </a:p>
        </p:txBody>
      </p:sp>
      <p:sp>
        <p:nvSpPr>
          <p:cNvPr id="6" name="Text Box 3"/>
          <p:cNvSpPr txBox="1">
            <a:spLocks noChangeArrowheads="1"/>
          </p:cNvSpPr>
          <p:nvPr/>
        </p:nvSpPr>
        <p:spPr bwMode="auto">
          <a:xfrm>
            <a:off x="384869" y="188913"/>
            <a:ext cx="8445500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/>
            <a:r>
              <a:rPr lang="ru-RU" sz="3200" dirty="0" smtClean="0"/>
              <a:t>АЛГОРИТМ РАБОТЫ С ПРИЛОЖЕНИЕМ</a:t>
            </a:r>
            <a:endParaRPr lang="ru-RU" sz="3200" dirty="0"/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graphicFrame>
        <p:nvGraphicFramePr>
          <p:cNvPr id="3" name="Объект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97958647"/>
              </p:ext>
            </p:extLst>
          </p:nvPr>
        </p:nvGraphicFramePr>
        <p:xfrm>
          <a:off x="549969" y="908720"/>
          <a:ext cx="8096250" cy="547260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9" name="Visio" r:id="rId3" imgW="26943996" imgH="22200349" progId="Visio.Drawing.11">
                  <p:embed/>
                </p:oleObj>
              </mc:Choice>
              <mc:Fallback>
                <p:oleObj name="Visio" r:id="rId3" imgW="26943996" imgH="22200349" progId="Visio.Drawing.11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9969" y="908720"/>
                        <a:ext cx="8096250" cy="547260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1096008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Line 2"/>
          <p:cNvSpPr>
            <a:spLocks noChangeShapeType="1"/>
          </p:cNvSpPr>
          <p:nvPr/>
        </p:nvSpPr>
        <p:spPr bwMode="auto">
          <a:xfrm>
            <a:off x="365819" y="795338"/>
            <a:ext cx="8464550" cy="0"/>
          </a:xfrm>
          <a:prstGeom prst="line">
            <a:avLst/>
          </a:prstGeom>
          <a:noFill/>
          <a:ln w="38100">
            <a:solidFill>
              <a:srgbClr val="000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ru-RU"/>
          </a:p>
        </p:txBody>
      </p:sp>
      <p:sp>
        <p:nvSpPr>
          <p:cNvPr id="6" name="Text Box 3"/>
          <p:cNvSpPr txBox="1">
            <a:spLocks noChangeArrowheads="1"/>
          </p:cNvSpPr>
          <p:nvPr/>
        </p:nvSpPr>
        <p:spPr bwMode="auto">
          <a:xfrm>
            <a:off x="384869" y="188913"/>
            <a:ext cx="81407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/>
            <a:r>
              <a:rPr lang="ru-RU" sz="2800" dirty="0" smtClean="0"/>
              <a:t>СТРУКТУРНАЯ ОРГАНИЗАЦИЯ ДАННЫХ</a:t>
            </a:r>
            <a:endParaRPr lang="ru-RU" sz="2800" dirty="0"/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592" y="1124744"/>
            <a:ext cx="7217817" cy="52005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87171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idx="1"/>
          </p:nvPr>
        </p:nvSpPr>
        <p:spPr>
          <a:xfrm>
            <a:off x="323528" y="116632"/>
            <a:ext cx="8820472" cy="1440160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ru-RU" sz="3600" dirty="0" smtClean="0"/>
              <a:t>Предлагаю Вам ознакомиться с демонстрацией возможностей программы</a:t>
            </a:r>
            <a:endParaRPr lang="ru-RU" sz="2800" dirty="0"/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544" y="1628800"/>
            <a:ext cx="8191531" cy="46497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17012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48394" y="1340768"/>
            <a:ext cx="8265170" cy="648072"/>
          </a:xfrm>
          <a:noFill/>
        </p:spPr>
        <p:txBody>
          <a:bodyPr/>
          <a:lstStyle/>
          <a:p>
            <a:pPr marL="0" indent="0">
              <a:buNone/>
            </a:pPr>
            <a:r>
              <a:rPr lang="ru-RU" b="1" dirty="0" smtClean="0"/>
              <a:t>Все поставленные задачи были реализованы</a:t>
            </a:r>
            <a:endParaRPr lang="ru-RU" b="1" dirty="0"/>
          </a:p>
        </p:txBody>
      </p:sp>
      <p:sp>
        <p:nvSpPr>
          <p:cNvPr id="4" name="Line 2"/>
          <p:cNvSpPr>
            <a:spLocks noChangeShapeType="1"/>
          </p:cNvSpPr>
          <p:nvPr/>
        </p:nvSpPr>
        <p:spPr bwMode="auto">
          <a:xfrm>
            <a:off x="365819" y="795338"/>
            <a:ext cx="8464550" cy="0"/>
          </a:xfrm>
          <a:prstGeom prst="line">
            <a:avLst/>
          </a:prstGeom>
          <a:noFill/>
          <a:ln w="38100">
            <a:solidFill>
              <a:srgbClr val="000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ru-RU"/>
          </a:p>
        </p:txBody>
      </p:sp>
      <p:sp>
        <p:nvSpPr>
          <p:cNvPr id="5" name="Text Box 3"/>
          <p:cNvSpPr txBox="1">
            <a:spLocks noChangeArrowheads="1"/>
          </p:cNvSpPr>
          <p:nvPr/>
        </p:nvSpPr>
        <p:spPr bwMode="auto">
          <a:xfrm>
            <a:off x="384869" y="188913"/>
            <a:ext cx="81407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/>
            <a:r>
              <a:rPr lang="ru-RU" sz="2800" dirty="0" smtClean="0"/>
              <a:t>ВЫВОД</a:t>
            </a:r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1804557761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432</TotalTime>
  <Words>117</Words>
  <Application>Microsoft Office PowerPoint</Application>
  <PresentationFormat>Экран (4:3)</PresentationFormat>
  <Paragraphs>30</Paragraphs>
  <Slides>9</Slides>
  <Notes>1</Notes>
  <HiddenSlides>0</HiddenSlides>
  <MMClips>0</MMClips>
  <ScaleCrop>false</ScaleCrop>
  <HeadingPairs>
    <vt:vector size="8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Внедренные серверы OLE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5" baseType="lpstr">
      <vt:lpstr>Arial</vt:lpstr>
      <vt:lpstr>Calibri</vt:lpstr>
      <vt:lpstr>Times New Roman</vt:lpstr>
      <vt:lpstr>Wingdings</vt:lpstr>
      <vt:lpstr>Тема Office</vt:lpstr>
      <vt:lpstr>Visio</vt:lpstr>
      <vt:lpstr>Информационная система для складского учёта ТМЦ на основе 1С-подобной логики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База данных Студии Танцев (модуль обработки данных)</dc:title>
  <dc:creator>Сафиулин</dc:creator>
  <cp:lastModifiedBy>Main</cp:lastModifiedBy>
  <cp:revision>57</cp:revision>
  <dcterms:created xsi:type="dcterms:W3CDTF">2015-06-13T14:24:23Z</dcterms:created>
  <dcterms:modified xsi:type="dcterms:W3CDTF">2026-04-27T13:08:12Z</dcterms:modified>
</cp:coreProperties>
</file>